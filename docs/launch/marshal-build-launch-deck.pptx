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Thirty seconds. The tagline is the product: three stages, one platform, nothing hidden.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the audience's pain before the product. The security reviewer is the real customer.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is the top half, Govern is the middle, Deploy is the bottom. Every arrow is a seam with a test behind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beat #2 lives here. Emphasise "rails, not suggestions".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gate is the thing competitors don't have. "Checked, not trusted."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beat #5: show a medium verdict, switch to the admin, approve with a comment, show it in the audit 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claim certifications — there are none. Describe the controls; let the reviewer map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beat #6. If the live deploy is slow, narrate the lease phases — they're the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Render this as boxes and arrows.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earns trust with engineers. Read one ENGINEERING_LOG.md entry aloud if time allows.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price. Say the prerequisites. Nobody forgives a surprise NAT bill.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Limits stated by us beat limits discovered by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sha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760" y="640080"/>
            <a:ext cx="1554480" cy="1554480"/>
          </a:xfrm>
          <a:prstGeom prst="round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48640" y="2423160"/>
            <a:ext cx="1109472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b="1" i="0" sz="4000">
                <a:solidFill>
                  <a:srgbClr val="F8FAFC"/>
                </a:solidFill>
                <a:latin typeface="Calibri"/>
              </a:rPr>
              <a:t>marshal.build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0"/>
            <a:ext cx="1109472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b="1" i="0" sz="2600">
                <a:solidFill>
                  <a:srgbClr val="818CF8"/>
                </a:solidFill>
                <a:latin typeface="Calibri"/>
              </a:rPr>
              <a:t>Build · Govern · Deploy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49680" y="3931920"/>
            <a:ext cx="9692640" cy="982065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b="1" i="0" sz="1800">
                <a:solidFill>
                  <a:srgbClr val="E2E8F0"/>
                </a:solidFill>
                <a:latin typeface="Calibri"/>
              </a:rPr>
              <a:t>Describe an AI agent in plain English. Get a governed specification, a validated serverless agent, and a live deployment in an isolated AWS account — with every decision on the record.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9680" y="5096865"/>
            <a:ext cx="9692640" cy="36819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b="0" i="0" sz="1600">
                <a:solidFill>
                  <a:srgbClr val="94A3B8"/>
                </a:solidFill>
                <a:latin typeface="Calibri"/>
              </a:rPr>
              <a:t>Open source · self-hostable · built in the open since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20040"/>
            <a:ext cx="11094720" cy="7315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r>
              <a:rPr b="1" i="0" sz="3600">
                <a:solidFill>
                  <a:srgbClr val="818CF8"/>
                </a:solidFill>
                <a:latin typeface="Calibri"/>
              </a:rPr>
              <a:t>2</a:t>
            </a:r>
            <a:r>
              <a:rPr b="1" i="0" sz="3600">
                <a:solidFill>
                  <a:srgbClr val="F8FAFC"/>
                </a:solidFill>
                <a:latin typeface="Calibri"/>
              </a:rPr>
              <a:t> · The gap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88720" cy="4572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720" cy="23713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292608" indent="-292608">
              <a:lnSpc>
                <a:spcPct val="105000"/>
              </a:lnSpc>
              <a:spcAft>
                <a:spcPts val="800"/>
              </a:spcAft>
              <a:buClr>
                <a:srgbClr val="818CF8"/>
              </a:buClr>
              <a:buFont typeface="Arial"/>
              <a:buChar char="•"/>
            </a:pPr>
            <a:r>
              <a:rPr b="0" i="0" sz="2000">
                <a:solidFill>
                  <a:srgbClr val="E2E8F0"/>
                </a:solidFill>
                <a:latin typeface="Calibri"/>
              </a:rPr>
              <a:t>Everyone can prompt a model into writing an agent. Almost nobody can </a:t>
            </a:r>
            <a:r>
              <a:rPr b="1" i="0" sz="2000">
                <a:solidFill>
                  <a:srgbClr val="E2E8F0"/>
                </a:solidFill>
                <a:latin typeface="Calibri"/>
              </a:rPr>
              <a:t>deploy</a:t>
            </a:r>
            <a:r>
              <a:rPr b="0" i="0" sz="2000">
                <a:solidFill>
                  <a:srgbClr val="E2E8F0"/>
                </a:solidFill>
                <a:latin typeface="Calibri"/>
              </a:rPr>
              <a:t> one their security team will sign off on.</a:t>
            </a:r>
          </a:p>
          <a:p>
            <a:pPr marL="292608" indent="-292608">
              <a:lnSpc>
                <a:spcPct val="105000"/>
              </a:lnSpc>
              <a:spcAft>
                <a:spcPts val="800"/>
              </a:spcAft>
              <a:buClr>
                <a:srgbClr val="818CF8"/>
              </a:buClr>
              <a:buFont typeface="Arial"/>
              <a:buChar char="•"/>
            </a:pPr>
            <a:r>
              <a:rPr b="0" i="0" sz="2000">
                <a:solidFill>
                  <a:srgbClr val="E2E8F0"/>
                </a:solidFill>
                <a:latin typeface="Calibri"/>
              </a:rPr>
              <a:t>What's missing between the prompt and production: a specification someone approved, code that was </a:t>
            </a:r>
            <a:r>
              <a:rPr b="0" i="1" sz="2000">
                <a:solidFill>
                  <a:srgbClr val="E2E8F0"/>
                </a:solidFill>
                <a:latin typeface="Calibri"/>
              </a:rPr>
              <a:t>checked</a:t>
            </a:r>
            <a:r>
              <a:rPr b="0" i="0" sz="2000">
                <a:solidFill>
                  <a:srgbClr val="E2E8F0"/>
                </a:solidFill>
                <a:latin typeface="Calibri"/>
              </a:rPr>
              <a:t> rather than </a:t>
            </a:r>
            <a:r>
              <a:rPr b="0" i="1" sz="2000">
                <a:solidFill>
                  <a:srgbClr val="E2E8F0"/>
                </a:solidFill>
                <a:latin typeface="Calibri"/>
              </a:rPr>
              <a:t>trusted</a:t>
            </a:r>
            <a:r>
              <a:rPr b="0" i="0" sz="2000">
                <a:solidFill>
                  <a:srgbClr val="E2E8F0"/>
                </a:solidFill>
                <a:latin typeface="Calibri"/>
              </a:rPr>
              <a:t>, a blast-radius boundary, a risk decision with a name on it, an audit trail of every model call and every click.</a:t>
            </a:r>
          </a:p>
          <a:p>
            <a:pPr marL="292608" indent="-292608">
              <a:lnSpc>
                <a:spcPct val="105000"/>
              </a:lnSpc>
              <a:spcAft>
                <a:spcPts val="800"/>
              </a:spcAft>
              <a:buClr>
                <a:srgbClr val="818CF8"/>
              </a:buClr>
              <a:buFont typeface="Arial"/>
              <a:buChar char="•"/>
            </a:pPr>
            <a:r>
              <a:rPr b="0" i="0" sz="2000">
                <a:solidFill>
                  <a:srgbClr val="E2E8F0"/>
                </a:solidFill>
                <a:latin typeface="Calibri"/>
              </a:rPr>
              <a:t>Today that gap is filled by shadow AI, or by six weeks of platform work per team.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b="0" i="0" sz="1100">
                <a:solidFill>
                  <a:srgbClr val="94A3B8"/>
                </a:solidFill>
                <a:latin typeface="Calibri"/>
              </a:rPr>
              <a:t>marshal.build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960" y="635508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b="0" i="0" sz="1100">
                <a:solidFill>
                  <a:srgbClr val="94A3B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20040"/>
            <a:ext cx="11094720" cy="7315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r>
              <a:rPr b="1" i="0" sz="3600">
                <a:solidFill>
                  <a:srgbClr val="818CF8"/>
                </a:solidFill>
                <a:latin typeface="Calibri"/>
              </a:rPr>
              <a:t>3</a:t>
            </a:r>
            <a:r>
              <a:rPr b="1" i="0" sz="3600">
                <a:solidFill>
                  <a:srgbClr val="F8FAFC"/>
                </a:solidFill>
                <a:latin typeface="Calibri"/>
              </a:rPr>
              <a:t> · What marshal does — one picture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88720" cy="4572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291840" cy="548640"/>
          </a:xfrm>
          <a:prstGeom prst="roundRect">
            <a:avLst>
              <a:gd name="adj" fmla="val 18000"/>
            </a:avLst>
          </a:prstGeom>
          <a:solidFill>
            <a:srgbClr val="1E293B"/>
          </a:solidFill>
          <a:ln w="1587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0" i="0" sz="1400">
                <a:solidFill>
                  <a:srgbClr val="E2E8F0"/>
                </a:solidFill>
                <a:latin typeface="Calibri"/>
              </a:rPr>
              <a:t>Chat / Guided wizard / Studio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371600" y="2011680"/>
            <a:ext cx="0" cy="457200"/>
          </a:xfrm>
          <a:prstGeom prst="line">
            <a:avLst/>
          </a:prstGeom>
          <a:ln w="19050">
            <a:solidFill>
              <a:srgbClr val="818CF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600200" y="21031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b="0" i="1" sz="1300">
                <a:solidFill>
                  <a:srgbClr val="94A3B8"/>
                </a:solidFill>
                <a:latin typeface="Calibri"/>
              </a:rPr>
              <a:t>(PDF · DOCX · pasted specs as grounding)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4572000" cy="548640"/>
          </a:xfrm>
          <a:prstGeom prst="roundRect">
            <a:avLst>
              <a:gd name="adj" fmla="val 18000"/>
            </a:avLst>
          </a:prstGeom>
          <a:solidFill>
            <a:srgbClr val="1E293B"/>
          </a:solidFill>
          <a:ln w="1587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0" i="0" sz="1400">
                <a:solidFill>
                  <a:srgbClr val="E2E8F0"/>
                </a:solidFill>
                <a:latin typeface="Calibri"/>
              </a:rPr>
              <a:t>Spec set: requirements.md · design.md · tasks.md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20640" y="2743200"/>
            <a:ext cx="548640" cy="0"/>
          </a:xfrm>
          <a:prstGeom prst="line">
            <a:avLst/>
          </a:prstGeom>
          <a:ln w="19050">
            <a:solidFill>
              <a:srgbClr val="818CF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669280" y="2468880"/>
            <a:ext cx="3566160" cy="548640"/>
          </a:xfrm>
          <a:prstGeom prst="roundRect">
            <a:avLst>
              <a:gd name="adj" fmla="val 18000"/>
            </a:avLst>
          </a:prstGeom>
          <a:solidFill>
            <a:srgbClr val="1E293B"/>
          </a:solidFill>
          <a:ln w="1587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0" i="0" sz="1400">
                <a:solidFill>
                  <a:srgbClr val="E2E8F0"/>
                </a:solidFill>
                <a:latin typeface="Calibri"/>
              </a:rPr>
              <a:t>versions · diff · rollback · comments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71600" y="3017520"/>
            <a:ext cx="0" cy="457200"/>
          </a:xfrm>
          <a:prstGeom prst="line">
            <a:avLst/>
          </a:prstGeom>
          <a:ln w="19050">
            <a:solidFill>
              <a:srgbClr val="818CF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8640" y="3474720"/>
            <a:ext cx="2011680" cy="548640"/>
          </a:xfrm>
          <a:prstGeom prst="roundRect">
            <a:avLst>
              <a:gd name="adj" fmla="val 18000"/>
            </a:avLst>
          </a:prstGeom>
          <a:solidFill>
            <a:srgbClr val="1E293B"/>
          </a:solidFill>
          <a:ln w="1587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0" i="0" sz="1400">
                <a:solidFill>
                  <a:srgbClr val="E2E8F0"/>
                </a:solidFill>
                <a:latin typeface="Calibri"/>
              </a:rPr>
              <a:t>Code generation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60320" y="3749040"/>
            <a:ext cx="457200" cy="0"/>
          </a:xfrm>
          <a:prstGeom prst="line">
            <a:avLst/>
          </a:prstGeom>
          <a:ln w="19050">
            <a:solidFill>
              <a:srgbClr val="818CF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017520" y="3474720"/>
            <a:ext cx="3017520" cy="548640"/>
          </a:xfrm>
          <a:prstGeom prst="roundRect">
            <a:avLst>
              <a:gd name="adj" fmla="val 18000"/>
            </a:avLst>
          </a:prstGeom>
          <a:solidFill>
            <a:srgbClr val="1E293B"/>
          </a:solidFill>
          <a:ln w="1587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0" i="0" sz="1400">
                <a:solidFill>
                  <a:srgbClr val="E2E8F0"/>
                </a:solidFill>
                <a:latin typeface="Calibri"/>
              </a:rPr>
              <a:t>deterministic validation gate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35040" y="3749040"/>
            <a:ext cx="457200" cy="0"/>
          </a:xfrm>
          <a:prstGeom prst="line">
            <a:avLst/>
          </a:prstGeom>
          <a:ln w="19050">
            <a:solidFill>
              <a:srgbClr val="818CF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92240" y="3474720"/>
            <a:ext cx="2560320" cy="548640"/>
          </a:xfrm>
          <a:prstGeom prst="roundRect">
            <a:avLst>
              <a:gd name="adj" fmla="val 18000"/>
            </a:avLst>
          </a:prstGeom>
          <a:solidFill>
            <a:srgbClr val="1E293B"/>
          </a:solidFill>
          <a:ln w="1587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0" i="0" sz="1400">
                <a:solidFill>
                  <a:srgbClr val="E2E8F0"/>
                </a:solidFill>
                <a:latin typeface="Calibri"/>
              </a:rPr>
              <a:t>spec-conformance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11480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b="0" i="1" sz="1300">
                <a:solidFill>
                  <a:srgbClr val="94A3B8"/>
                </a:solidFill>
                <a:latin typeface="Calibri"/>
              </a:rPr>
              <a:t>(allowlist · packaging · auth contract · guardrail patterns)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371600" y="4023360"/>
            <a:ext cx="0" cy="457200"/>
          </a:xfrm>
          <a:prstGeom prst="line">
            <a:avLst/>
          </a:prstGeom>
          <a:ln w="19050">
            <a:solidFill>
              <a:srgbClr val="818CF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48640" y="4480560"/>
            <a:ext cx="3017520" cy="548640"/>
          </a:xfrm>
          <a:prstGeom prst="roundRect">
            <a:avLst>
              <a:gd name="adj" fmla="val 18000"/>
            </a:avLst>
          </a:prstGeom>
          <a:solidFill>
            <a:srgbClr val="1E293B"/>
          </a:solidFill>
          <a:ln w="1587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0" i="0" sz="1400">
                <a:solidFill>
                  <a:srgbClr val="E2E8F0"/>
                </a:solidFill>
                <a:latin typeface="Calibri"/>
              </a:rPr>
              <a:t>Risk scoring (7-factor rubric)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566160" y="4754880"/>
            <a:ext cx="457200" cy="0"/>
          </a:xfrm>
          <a:prstGeom prst="line">
            <a:avLst/>
          </a:prstGeom>
          <a:ln w="19050">
            <a:solidFill>
              <a:srgbClr val="818CF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023360" y="4480560"/>
            <a:ext cx="3383280" cy="548640"/>
          </a:xfrm>
          <a:prstGeom prst="roundRect">
            <a:avLst>
              <a:gd name="adj" fmla="val 18000"/>
            </a:avLst>
          </a:prstGeom>
          <a:solidFill>
            <a:srgbClr val="1E293B"/>
          </a:solidFill>
          <a:ln w="1587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0" i="0" sz="1400">
                <a:solidFill>
                  <a:srgbClr val="E2E8F0"/>
                </a:solidFill>
                <a:latin typeface="Calibri"/>
              </a:rPr>
              <a:t>auto-approve / maker-checker review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371600" y="5029200"/>
            <a:ext cx="0" cy="457200"/>
          </a:xfrm>
          <a:prstGeom prst="line">
            <a:avLst/>
          </a:prstGeom>
          <a:ln w="19050">
            <a:solidFill>
              <a:srgbClr val="818CF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48640" y="5486400"/>
            <a:ext cx="7315200" cy="548640"/>
          </a:xfrm>
          <a:prstGeom prst="roundRect">
            <a:avLst>
              <a:gd name="adj" fmla="val 18000"/>
            </a:avLst>
          </a:prstGeom>
          <a:solidFill>
            <a:srgbClr val="312E81"/>
          </a:solidFill>
          <a:ln w="1587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i="0" sz="1400">
                <a:solidFill>
                  <a:srgbClr val="E2E8F0"/>
                </a:solidFill>
                <a:latin typeface="Calibri"/>
              </a:rPr>
              <a:t>Enclave: a vended AWS account per deployment · TTL · budget · health · teardown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b="0" i="0" sz="1100">
                <a:solidFill>
                  <a:srgbClr val="94A3B8"/>
                </a:solidFill>
                <a:latin typeface="Calibri"/>
              </a:rPr>
              <a:t>marshal.build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960" y="635508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b="0" i="0" sz="1100">
                <a:solidFill>
                  <a:srgbClr val="94A3B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20040"/>
            <a:ext cx="11094720" cy="7315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r>
              <a:rPr b="1" i="0" sz="3600">
                <a:solidFill>
                  <a:srgbClr val="818CF8"/>
                </a:solidFill>
                <a:latin typeface="Calibri"/>
              </a:rPr>
              <a:t>4</a:t>
            </a:r>
            <a:r>
              <a:rPr b="1" i="0" sz="3600">
                <a:solidFill>
                  <a:srgbClr val="F8FAFC"/>
                </a:solidFill>
                <a:latin typeface="Calibri"/>
              </a:rPr>
              <a:t> · Build — from conversation to specification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88720" cy="4572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720" cy="31575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292608" indent="-292608">
              <a:lnSpc>
                <a:spcPct val="105000"/>
              </a:lnSpc>
              <a:spcAft>
                <a:spcPts val="800"/>
              </a:spcAft>
              <a:buClr>
                <a:srgbClr val="818CF8"/>
              </a:buClr>
              <a:buFont typeface="Arial"/>
              <a:buChar char="•"/>
            </a:pPr>
            <a:r>
              <a:rPr b="1" i="0" sz="1800">
                <a:solidFill>
                  <a:srgbClr val="E2E8F0"/>
                </a:solidFill>
                <a:latin typeface="Calibri"/>
              </a:rPr>
              <a:t>Three ways in: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 guided wizard (business users — server-owned state machine, ≤3 clarification rounds), freeform chat, and the </a:t>
            </a:r>
            <a:r>
              <a:rPr b="1" i="0" sz="1800">
                <a:solidFill>
                  <a:srgbClr val="E2E8F0"/>
                </a:solidFill>
                <a:latin typeface="Calibri"/>
              </a:rPr>
              <a:t>Studio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 for power users (shows the exact prompt context and </a:t>
            </a:r>
            <a:r>
              <a:rPr b="0" i="1" sz="1800">
                <a:solidFill>
                  <a:srgbClr val="E2E8F0"/>
                </a:solidFill>
                <a:latin typeface="Calibri"/>
              </a:rPr>
              <a:t>effective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 parameters after clamps — display cannot drift from enforcement).</a:t>
            </a:r>
          </a:p>
          <a:p>
            <a:pPr marL="292608" indent="-292608">
              <a:lnSpc>
                <a:spcPct val="105000"/>
              </a:lnSpc>
              <a:spcAft>
                <a:spcPts val="800"/>
              </a:spcAft>
              <a:buClr>
                <a:srgbClr val="818CF8"/>
              </a:buClr>
              <a:buFont typeface="Arial"/>
              <a:buChar char="•"/>
            </a:pPr>
            <a:r>
              <a:rPr b="1" i="0" sz="1800">
                <a:solidFill>
                  <a:srgbClr val="E2E8F0"/>
                </a:solidFill>
                <a:latin typeface="Calibri"/>
              </a:rPr>
              <a:t>Brownfield grounding: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 attach a PDF, a Word document, or an existing spec set; extraction is deterministic and local (no model, no OCR).</a:t>
            </a:r>
          </a:p>
          <a:p>
            <a:pPr marL="292608" indent="-292608">
              <a:lnSpc>
                <a:spcPct val="105000"/>
              </a:lnSpc>
              <a:spcAft>
                <a:spcPts val="800"/>
              </a:spcAft>
              <a:buClr>
                <a:srgbClr val="818CF8"/>
              </a:buClr>
              <a:buFont typeface="Arial"/>
              <a:buChar char="•"/>
            </a:pPr>
            <a:r>
              <a:rPr b="1" i="0" sz="1800">
                <a:solidFill>
                  <a:srgbClr val="E2E8F0"/>
                </a:solidFill>
                <a:latin typeface="Calibri"/>
              </a:rPr>
              <a:t>Output: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 requirements, design (with a Mermaid architecture), implementation plan — structurally validated, one model repair pass, then append-only versions with diff and rollback.</a:t>
            </a:r>
          </a:p>
          <a:p>
            <a:pPr marL="292608" indent="-292608">
              <a:lnSpc>
                <a:spcPct val="105000"/>
              </a:lnSpc>
              <a:spcAft>
                <a:spcPts val="800"/>
              </a:spcAft>
              <a:buClr>
                <a:srgbClr val="818CF8"/>
              </a:buClr>
              <a:buFont typeface="Arial"/>
              <a:buChar char="•"/>
            </a:pPr>
            <a:r>
              <a:rPr b="1" i="0" sz="1800">
                <a:solidFill>
                  <a:srgbClr val="E2E8F0"/>
                </a:solidFill>
                <a:latin typeface="Calibri"/>
              </a:rPr>
              <a:t>Templates with rails: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 model allowlists, token ceilings, temperature bounds, architecture rules, allowed capabilities — enforced server-side on every call.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b="0" i="0" sz="1100">
                <a:solidFill>
                  <a:srgbClr val="94A3B8"/>
                </a:solidFill>
                <a:latin typeface="Calibri"/>
              </a:rPr>
              <a:t>marshal.build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960" y="635508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b="0" i="0" sz="1100">
                <a:solidFill>
                  <a:srgbClr val="94A3B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20040"/>
            <a:ext cx="11094720" cy="10515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r>
              <a:rPr b="1" i="0" sz="3200">
                <a:solidFill>
                  <a:srgbClr val="818CF8"/>
                </a:solidFill>
                <a:latin typeface="Calibri"/>
              </a:rPr>
              <a:t>5</a:t>
            </a:r>
            <a:r>
              <a:rPr b="1" i="0" sz="3200">
                <a:solidFill>
                  <a:srgbClr val="F8FAFC"/>
                </a:solidFill>
                <a:latin typeface="Calibri"/>
              </a:rPr>
              <a:t> · Build — from specification to a validated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1188720" cy="4572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94720" cy="413755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292608" indent="-292608">
              <a:lnSpc>
                <a:spcPct val="105000"/>
              </a:lnSpc>
              <a:spcAft>
                <a:spcPts val="800"/>
              </a:spcAft>
              <a:buClr>
                <a:srgbClr val="818CF8"/>
              </a:buClr>
              <a:buFont typeface="Arial"/>
              <a:buChar char="•"/>
            </a:pPr>
            <a:r>
              <a:rPr b="1" i="0" sz="1800">
                <a:solidFill>
                  <a:srgbClr val="E2E8F0"/>
                </a:solidFill>
                <a:latin typeface="Calibri"/>
              </a:rPr>
              <a:t>Profiles: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 </a:t>
            </a:r>
            <a:r>
              <a:rPr b="0" i="0" sz="1500">
                <a:solidFill>
                  <a:srgbClr val="C7D2FE"/>
                </a:solidFill>
                <a:latin typeface="Consolas"/>
              </a:rPr>
              <a:t>inline-cfn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 (zero toolchain), </a:t>
            </a:r>
            <a:r>
              <a:rPr b="0" i="0" sz="1500">
                <a:solidFill>
                  <a:srgbClr val="C7D2FE"/>
                </a:solidFill>
                <a:latin typeface="Consolas"/>
              </a:rPr>
              <a:t>packaged-cfn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 (real Lambda package, S3 asset, exact-pinned deps with an SBOM), </a:t>
            </a:r>
            <a:r>
              <a:rPr b="0" i="0" sz="1500">
                <a:solidFill>
                  <a:srgbClr val="C7D2FE"/>
                </a:solidFill>
                <a:latin typeface="Consolas"/>
              </a:rPr>
              <a:t>cdk-app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 (a TypeScript CDK repository you can take away — experimental).</a:t>
            </a:r>
          </a:p>
          <a:p>
            <a:pPr marL="292608" indent="-292608">
              <a:lnSpc>
                <a:spcPct val="105000"/>
              </a:lnSpc>
              <a:spcAft>
                <a:spcPts val="800"/>
              </a:spcAft>
              <a:buClr>
                <a:srgbClr val="818CF8"/>
              </a:buClr>
              <a:buFont typeface="Arial"/>
              <a:buChar char="•"/>
            </a:pPr>
            <a:r>
              <a:rPr b="1" i="0" sz="1800">
                <a:solidFill>
                  <a:srgbClr val="E2E8F0"/>
                </a:solidFill>
                <a:latin typeface="Calibri"/>
              </a:rPr>
              <a:t>The gate is deterministic and blocking: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 AWS service allowlist, packaging shape, API-key contract on every route, forbidden patterns (hard-coded credentials, public DB exposure), deploy contract. Any finding fails the build — no "deploy anyway".</a:t>
            </a:r>
          </a:p>
          <a:p>
            <a:pPr marL="292608" indent="-292608">
              <a:lnSpc>
                <a:spcPct val="105000"/>
              </a:lnSpc>
              <a:spcAft>
                <a:spcPts val="800"/>
              </a:spcAft>
              <a:buClr>
                <a:srgbClr val="818CF8"/>
              </a:buClr>
              <a:buFont typeface="Arial"/>
              <a:buChar char="•"/>
            </a:pPr>
            <a:r>
              <a:rPr b="1" i="0" sz="1800">
                <a:solidFill>
                  <a:srgbClr val="E2E8F0"/>
                </a:solidFill>
                <a:latin typeface="Calibri"/>
              </a:rPr>
              <a:t>Spec conformance: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 literal/field contracts extracted from the requirements are checked in the generated code; violations block, model review is advisory.</a:t>
            </a:r>
          </a:p>
          <a:p>
            <a:pPr marL="292608" indent="-292608">
              <a:lnSpc>
                <a:spcPct val="105000"/>
              </a:lnSpc>
              <a:spcAft>
                <a:spcPts val="800"/>
              </a:spcAft>
              <a:buClr>
                <a:srgbClr val="818CF8"/>
              </a:buClr>
              <a:buFont typeface="Arial"/>
              <a:buChar char="•"/>
            </a:pPr>
            <a:r>
              <a:rPr b="1" i="0" sz="1800">
                <a:solidFill>
                  <a:srgbClr val="E2E8F0"/>
                </a:solidFill>
                <a:latin typeface="Calibri"/>
              </a:rPr>
              <a:t>Self-correcting: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 compaction retry for oversized handlers; automatic escalation to packaged when code outgrows CloudFormation's 4 KB inline limit — </a:t>
            </a:r>
            <a:r>
              <a:rPr b="0" i="1" sz="1800">
                <a:solidFill>
                  <a:srgbClr val="E2E8F0"/>
                </a:solidFill>
                <a:latin typeface="Calibri"/>
              </a:rPr>
              <a:t>without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 adding dependencies the spec never declared.</a:t>
            </a:r>
          </a:p>
          <a:p>
            <a:pPr marL="292608" indent="-292608">
              <a:lnSpc>
                <a:spcPct val="105000"/>
              </a:lnSpc>
              <a:spcAft>
                <a:spcPts val="800"/>
              </a:spcAft>
              <a:buClr>
                <a:srgbClr val="818CF8"/>
              </a:buClr>
              <a:buFont typeface="Arial"/>
              <a:buChar char="•"/>
            </a:pPr>
            <a:r>
              <a:rPr b="1" i="0" sz="1800">
                <a:solidFill>
                  <a:srgbClr val="E2E8F0"/>
                </a:solidFill>
                <a:latin typeface="Calibri"/>
              </a:rPr>
              <a:t>Handoff bundle: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 specs + generated code + build manifest — run it outside marshal.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b="0" i="0" sz="1100">
                <a:solidFill>
                  <a:srgbClr val="94A3B8"/>
                </a:solidFill>
                <a:latin typeface="Calibri"/>
              </a:rPr>
              <a:t>marshal.build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960" y="635508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b="0" i="0" sz="1100">
                <a:solidFill>
                  <a:srgbClr val="94A3B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20040"/>
            <a:ext cx="11094720" cy="7315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r>
              <a:rPr b="1" i="0" sz="3600">
                <a:solidFill>
                  <a:srgbClr val="818CF8"/>
                </a:solidFill>
                <a:latin typeface="Calibri"/>
              </a:rPr>
              <a:t>6</a:t>
            </a:r>
            <a:r>
              <a:rPr b="1" i="0" sz="3600">
                <a:solidFill>
                  <a:srgbClr val="F8FAFC"/>
                </a:solidFill>
                <a:latin typeface="Calibri"/>
              </a:rPr>
              <a:t> · Govern — the risk gate and maker-checker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88720" cy="4572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720" cy="2866745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292608" indent="-292608">
              <a:lnSpc>
                <a:spcPct val="105000"/>
              </a:lnSpc>
              <a:spcAft>
                <a:spcPts val="800"/>
              </a:spcAft>
              <a:buClr>
                <a:srgbClr val="818CF8"/>
              </a:buClr>
              <a:buFont typeface="Arial"/>
              <a:buChar char="•"/>
            </a:pPr>
            <a:r>
              <a:rPr b="0" i="0" sz="1800">
                <a:solidFill>
                  <a:srgbClr val="E2E8F0"/>
                </a:solidFill>
                <a:latin typeface="Calibri"/>
              </a:rPr>
              <a:t>Every deployable build is scored against the </a:t>
            </a:r>
            <a:r>
              <a:rPr b="1" i="0" sz="1800">
                <a:solidFill>
                  <a:srgbClr val="E2E8F0"/>
                </a:solidFill>
                <a:latin typeface="Calibri"/>
              </a:rPr>
              <a:t>current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 content hash: 7 weighted factors (data sensitivity, external reach, capability reach, …), rubric v3, deterministic per content — scored once, reread forever.</a:t>
            </a:r>
          </a:p>
          <a:p>
            <a:pPr marL="292608" indent="-292608">
              <a:lnSpc>
                <a:spcPct val="105000"/>
              </a:lnSpc>
              <a:spcAft>
                <a:spcPts val="800"/>
              </a:spcAft>
              <a:buClr>
                <a:srgbClr val="818CF8"/>
              </a:buClr>
              <a:buFont typeface="Arial"/>
              <a:buChar char="•"/>
            </a:pPr>
            <a:r>
              <a:rPr b="1" i="0" sz="1800">
                <a:solidFill>
                  <a:srgbClr val="E2E8F0"/>
                </a:solidFill>
                <a:latin typeface="Calibri"/>
              </a:rPr>
              <a:t>Low auto-approves. Medium/high route to reviewers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 — groups, escalation, SLA queue, resubmission lineage; the decision is recorded with the reviewer's identity and comment.</a:t>
            </a:r>
          </a:p>
          <a:p>
            <a:pPr marL="292608" indent="-292608">
              <a:lnSpc>
                <a:spcPct val="105000"/>
              </a:lnSpc>
              <a:spcAft>
                <a:spcPts val="800"/>
              </a:spcAft>
              <a:buClr>
                <a:srgbClr val="818CF8"/>
              </a:buClr>
              <a:buFont typeface="Arial"/>
              <a:buChar char="•"/>
            </a:pPr>
            <a:r>
              <a:rPr b="0" i="0" sz="1800">
                <a:solidFill>
                  <a:srgbClr val="E2E8F0"/>
                </a:solidFill>
                <a:latin typeface="Calibri"/>
              </a:rPr>
              <a:t>Tightened policy means the next deploy re-scores; approvals under a superseded policy don't open the gate. Running deployments are never retro-blocked.</a:t>
            </a:r>
          </a:p>
          <a:p>
            <a:pPr marL="292608" indent="-292608">
              <a:lnSpc>
                <a:spcPct val="105000"/>
              </a:lnSpc>
              <a:spcAft>
                <a:spcPts val="800"/>
              </a:spcAft>
              <a:buClr>
                <a:srgbClr val="818CF8"/>
              </a:buClr>
              <a:buFont typeface="Arial"/>
              <a:buChar char="•"/>
            </a:pPr>
            <a:r>
              <a:rPr b="0" i="0" sz="1800">
                <a:solidFill>
                  <a:srgbClr val="E2E8F0"/>
                </a:solidFill>
                <a:latin typeface="Calibri"/>
              </a:rPr>
              <a:t>Admins tune weights, bands and auto-approve policy — </a:t>
            </a:r>
            <a:r>
              <a:rPr b="1" i="0" sz="1800">
                <a:solidFill>
                  <a:srgbClr val="E2E8F0"/>
                </a:solidFill>
                <a:latin typeface="Calibri"/>
              </a:rPr>
              <a:t>versioned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, every change audited.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b="0" i="0" sz="1100">
                <a:solidFill>
                  <a:srgbClr val="94A3B8"/>
                </a:solidFill>
                <a:latin typeface="Calibri"/>
              </a:rPr>
              <a:t>marshal.build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960" y="635508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b="0" i="0" sz="1100">
                <a:solidFill>
                  <a:srgbClr val="94A3B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20040"/>
            <a:ext cx="11094720" cy="7315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r>
              <a:rPr b="1" i="0" sz="3600">
                <a:solidFill>
                  <a:srgbClr val="818CF8"/>
                </a:solidFill>
                <a:latin typeface="Calibri"/>
              </a:rPr>
              <a:t>7</a:t>
            </a:r>
            <a:r>
              <a:rPr b="1" i="0" sz="3600">
                <a:solidFill>
                  <a:srgbClr val="F8FAFC"/>
                </a:solidFill>
                <a:latin typeface="Calibri"/>
              </a:rPr>
              <a:t> · Govern — policies, controls,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88720" cy="4572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720" cy="3448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292608" indent="-292608">
              <a:lnSpc>
                <a:spcPct val="105000"/>
              </a:lnSpc>
              <a:spcAft>
                <a:spcPts val="800"/>
              </a:spcAft>
              <a:buClr>
                <a:srgbClr val="818CF8"/>
              </a:buClr>
              <a:buFont typeface="Arial"/>
              <a:buChar char="•"/>
            </a:pPr>
            <a:r>
              <a:rPr b="1" i="0" sz="1800">
                <a:solidFill>
                  <a:srgbClr val="E2E8F0"/>
                </a:solidFill>
                <a:latin typeface="Calibri"/>
              </a:rPr>
              <a:t>Deployment policy: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 concurrency per user / platform, TTL default and max, per-deployment budget, region, endpoint-auth posture (</a:t>
            </a:r>
            <a:r>
              <a:rPr b="0" i="0" sz="1500">
                <a:solidFill>
                  <a:srgbClr val="C7D2FE"/>
                </a:solidFill>
                <a:latin typeface="Consolas"/>
              </a:rPr>
              <a:t>always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). Enforced </a:t>
            </a:r>
            <a:r>
              <a:rPr b="0" i="1" sz="1800">
                <a:solidFill>
                  <a:srgbClr val="E2E8F0"/>
                </a:solidFill>
                <a:latin typeface="Calibri"/>
              </a:rPr>
              <a:t>before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 scoring — refusals never spend a model call.</a:t>
            </a:r>
          </a:p>
          <a:p>
            <a:pPr marL="292608" indent="-292608">
              <a:lnSpc>
                <a:spcPct val="105000"/>
              </a:lnSpc>
              <a:spcAft>
                <a:spcPts val="800"/>
              </a:spcAft>
              <a:buClr>
                <a:srgbClr val="818CF8"/>
              </a:buClr>
              <a:buFont typeface="Arial"/>
              <a:buChar char="•"/>
            </a:pPr>
            <a:r>
              <a:rPr b="1" i="0" sz="1800">
                <a:solidFill>
                  <a:srgbClr val="E2E8F0"/>
                </a:solidFill>
                <a:latin typeface="Calibri"/>
              </a:rPr>
              <a:t>Model controls: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 allowlist from a governed catalog, parameter bounds, per-user / per-project / platform monthly caps (block or alert), rate limits with queue-then-429.</a:t>
            </a:r>
          </a:p>
          <a:p>
            <a:pPr marL="292608" indent="-292608">
              <a:lnSpc>
                <a:spcPct val="105000"/>
              </a:lnSpc>
              <a:spcAft>
                <a:spcPts val="800"/>
              </a:spcAft>
              <a:buClr>
                <a:srgbClr val="818CF8"/>
              </a:buClr>
              <a:buFont typeface="Arial"/>
              <a:buChar char="•"/>
            </a:pPr>
            <a:r>
              <a:rPr b="1" i="0" sz="1800">
                <a:solidFill>
                  <a:srgbClr val="E2E8F0"/>
                </a:solidFill>
                <a:latin typeface="Calibri"/>
              </a:rPr>
              <a:t>Audit: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 every action (before/after, request id, IP) </a:t>
            </a:r>
            <a:r>
              <a:rPr b="1" i="0" sz="1800">
                <a:solidFill>
                  <a:srgbClr val="E2E8F0"/>
                </a:solidFill>
                <a:latin typeface="Calibri"/>
              </a:rPr>
              <a:t>and every model invocation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 (prompt/response hashes, tokens, cost, stop reason) in one timeline; 180-day hot, then S3 archive. Reasoning tokens suppressed so spend is honest.</a:t>
            </a:r>
          </a:p>
          <a:p>
            <a:pPr marL="292608" indent="-292608">
              <a:lnSpc>
                <a:spcPct val="105000"/>
              </a:lnSpc>
              <a:spcAft>
                <a:spcPts val="800"/>
              </a:spcAft>
              <a:buClr>
                <a:srgbClr val="818CF8"/>
              </a:buClr>
              <a:buFont typeface="Arial"/>
              <a:buChar char="•"/>
            </a:pPr>
            <a:r>
              <a:rPr b="1" i="0" sz="1800">
                <a:solidFill>
                  <a:srgbClr val="E2E8F0"/>
                </a:solidFill>
                <a:latin typeface="Calibri"/>
              </a:rPr>
              <a:t>Security: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 Cognito + TOTP MFA, admin-MFA gate (fail-closed), PII-redaction guardrail in synchronous streaming mode, WAF, body/rate guards, supply-chain gate on every image build.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b="0" i="0" sz="1100">
                <a:solidFill>
                  <a:srgbClr val="94A3B8"/>
                </a:solidFill>
                <a:latin typeface="Calibri"/>
              </a:rPr>
              <a:t>marshal.build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960" y="635508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b="0" i="0" sz="1100">
                <a:solidFill>
                  <a:srgbClr val="94A3B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20040"/>
            <a:ext cx="11094720" cy="7315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r>
              <a:rPr b="1" i="0" sz="3600">
                <a:solidFill>
                  <a:srgbClr val="818CF8"/>
                </a:solidFill>
                <a:latin typeface="Calibri"/>
              </a:rPr>
              <a:t>8</a:t>
            </a:r>
            <a:r>
              <a:rPr b="1" i="0" sz="3600">
                <a:solidFill>
                  <a:srgbClr val="F8FAFC"/>
                </a:solidFill>
                <a:latin typeface="Calibri"/>
              </a:rPr>
              <a:t> · Deploy — Enclaves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88720" cy="4572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720" cy="31575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292608" indent="-292608">
              <a:lnSpc>
                <a:spcPct val="105000"/>
              </a:lnSpc>
              <a:spcAft>
                <a:spcPts val="800"/>
              </a:spcAft>
              <a:buClr>
                <a:srgbClr val="818CF8"/>
              </a:buClr>
              <a:buFont typeface="Arial"/>
              <a:buChar char="•"/>
            </a:pPr>
            <a:r>
              <a:rPr b="0" i="0" sz="1800">
                <a:solidFill>
                  <a:srgbClr val="E2E8F0"/>
                </a:solidFill>
                <a:latin typeface="Calibri"/>
              </a:rPr>
              <a:t>A deployment gets </a:t>
            </a:r>
            <a:r>
              <a:rPr b="1" i="0" sz="1800">
                <a:solidFill>
                  <a:srgbClr val="E2E8F0"/>
                </a:solidFill>
                <a:latin typeface="Calibri"/>
              </a:rPr>
              <a:t>its own AWS account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, vended by AWS Innovation Sandbox: lease, budget cap, recycling. The account boundary </a:t>
            </a:r>
            <a:r>
              <a:rPr b="0" i="1" sz="1800">
                <a:solidFill>
                  <a:srgbClr val="E2E8F0"/>
                </a:solidFill>
                <a:latin typeface="Calibri"/>
              </a:rPr>
              <a:t>is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 the blast-radius control for model-written code.</a:t>
            </a:r>
          </a:p>
          <a:p>
            <a:pPr marL="292608" indent="-292608">
              <a:lnSpc>
                <a:spcPct val="105000"/>
              </a:lnSpc>
              <a:spcAft>
                <a:spcPts val="800"/>
              </a:spcAft>
              <a:buClr>
                <a:srgbClr val="818CF8"/>
              </a:buClr>
              <a:buFont typeface="Arial"/>
              <a:buChar char="•"/>
            </a:pPr>
            <a:r>
              <a:rPr b="0" i="0" sz="1800">
                <a:solidFill>
                  <a:srgbClr val="E2E8F0"/>
                </a:solidFill>
                <a:latin typeface="Calibri"/>
              </a:rPr>
              <a:t>Lifecycle on the record: pre-flight → lease → stack → health probes → active; TTL with 48 h/24 h warnings; owner-extend within policy; automatic teardown through the standard path; in-place updates with CloudFormation rollback semantics.</a:t>
            </a:r>
          </a:p>
          <a:p>
            <a:pPr marL="292608" indent="-292608">
              <a:lnSpc>
                <a:spcPct val="105000"/>
              </a:lnSpc>
              <a:spcAft>
                <a:spcPts val="800"/>
              </a:spcAft>
              <a:buClr>
                <a:srgbClr val="818CF8"/>
              </a:buClr>
              <a:buFont typeface="Arial"/>
              <a:buChar char="•"/>
            </a:pPr>
            <a:r>
              <a:rPr b="1" i="0" sz="1800">
                <a:solidFill>
                  <a:srgbClr val="E2E8F0"/>
                </a:solidFill>
                <a:latin typeface="Calibri"/>
              </a:rPr>
              <a:t>Keyed by default: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 API key + usage plan on every route; optional self-contained web test console; "Reveal key" for the owner only.</a:t>
            </a:r>
          </a:p>
          <a:p>
            <a:pPr marL="292608" indent="-292608">
              <a:lnSpc>
                <a:spcPct val="105000"/>
              </a:lnSpc>
              <a:spcAft>
                <a:spcPts val="800"/>
              </a:spcAft>
              <a:buClr>
                <a:srgbClr val="818CF8"/>
              </a:buClr>
              <a:buFont typeface="Arial"/>
              <a:buChar char="•"/>
            </a:pPr>
            <a:r>
              <a:rPr b="0" i="0" sz="1800">
                <a:solidFill>
                  <a:srgbClr val="E2E8F0"/>
                </a:solidFill>
                <a:latin typeface="Calibri"/>
              </a:rPr>
              <a:t>Fleet view across projects; dependents block teardown; connector and dependency secrets copied </a:t>
            </a:r>
            <a:r>
              <a:rPr b="0" i="1" sz="1800">
                <a:solidFill>
                  <a:srgbClr val="E2E8F0"/>
                </a:solidFill>
                <a:latin typeface="Calibri"/>
              </a:rPr>
              <a:t>into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 the Enclave and deleted with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b="0" i="0" sz="1100">
                <a:solidFill>
                  <a:srgbClr val="94A3B8"/>
                </a:solidFill>
                <a:latin typeface="Calibri"/>
              </a:rPr>
              <a:t>marshal.build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960" y="635508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b="0" i="0" sz="1100">
                <a:solidFill>
                  <a:srgbClr val="94A3B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20040"/>
            <a:ext cx="11094720" cy="10515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r>
              <a:rPr b="1" i="0" sz="3200">
                <a:solidFill>
                  <a:srgbClr val="818CF8"/>
                </a:solidFill>
                <a:latin typeface="Calibri"/>
              </a:rPr>
              <a:t>9</a:t>
            </a:r>
            <a:r>
              <a:rPr b="1" i="0" sz="3200">
                <a:solidFill>
                  <a:srgbClr val="F8FAFC"/>
                </a:solidFill>
                <a:latin typeface="Calibri"/>
              </a:rPr>
              <a:t> · The capability ladder (each rung spec-declared, gate-enforced)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1188720" cy="4572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1094720" cy="33284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06240"/>
                <a:gridCol w="6888480"/>
              </a:tblGrid>
              <a:tr h="475488">
                <a:tc>
                  <a:txBody>
                    <a:bodyPr/>
                    <a:lstStyle/>
                    <a:p>
                      <a:r>
                        <a:rPr b="1" i="0" sz="1400">
                          <a:solidFill>
                            <a:srgbClr val="F8FAFC"/>
                          </a:solidFill>
                          <a:latin typeface="Calibri"/>
                        </a:rPr>
                        <a:t>Phrase in the requirements</a:t>
                      </a:r>
                    </a:p>
                  </a:txBody>
                  <a:tcPr marL="109728" marR="109728" marT="45720" marB="45720" anchor="ctr"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i="0" sz="1400">
                          <a:solidFill>
                            <a:srgbClr val="F8FAFC"/>
                          </a:solidFill>
                          <a:latin typeface="Calibri"/>
                        </a:rPr>
                        <a:t>What the platform builds</a:t>
                      </a:r>
                    </a:p>
                  </a:txBody>
                  <a:tcPr marL="109728" marR="109728" marT="45720" marB="45720" anchor="ctr">
                    <a:solidFill>
                      <a:srgbClr val="312E8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b="0" i="0" sz="1400">
                          <a:solidFill>
                            <a:srgbClr val="E2E8F0"/>
                          </a:solidFill>
                          <a:latin typeface="Calibri"/>
                        </a:rPr>
                        <a:t>"SHALL keep conversation memory"</a:t>
                      </a:r>
                    </a:p>
                  </a:txBody>
                  <a:tcPr marL="109728" marR="109728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i="0" sz="1400">
                          <a:solidFill>
                            <a:srgbClr val="E2E8F0"/>
                          </a:solidFill>
                          <a:latin typeface="Calibri"/>
                        </a:rPr>
                        <a:t>per-agent DynamoDB memory table + verbatim helpers</a:t>
                      </a:r>
                    </a:p>
                  </a:txBody>
                  <a:tcPr marL="109728" marR="109728" marT="45720" marB="45720" anchor="ctr">
                    <a:solidFill>
                      <a:srgbClr val="1E29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b="0" i="0" sz="1400">
                          <a:solidFill>
                            <a:srgbClr val="E2E8F0"/>
                          </a:solidFill>
                          <a:latin typeface="Calibri"/>
                        </a:rPr>
                        <a:t>"SHALL use tools: a, b"</a:t>
                      </a:r>
                    </a:p>
                  </a:txBody>
                  <a:tcPr marL="109728" marR="109728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i="0" sz="1400">
                          <a:solidFill>
                            <a:srgbClr val="E2E8F0"/>
                          </a:solidFill>
                          <a:latin typeface="Calibri"/>
                        </a:rPr>
                        <a:t>platform-assembled tool loop; model writes only tool bodies</a:t>
                      </a:r>
                    </a:p>
                  </a:txBody>
                  <a:tcPr marL="109728" marR="109728" marT="45720" marB="45720" anchor="ctr">
                    <a:solidFill>
                      <a:srgbClr val="1E29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b="0" i="0" sz="1400">
                          <a:solidFill>
                            <a:srgbClr val="E2E8F0"/>
                          </a:solidFill>
                          <a:latin typeface="Calibri"/>
                        </a:rPr>
                        <a:t>"SHALL plan multi-step responses"</a:t>
                      </a:r>
                    </a:p>
                  </a:txBody>
                  <a:tcPr marL="109728" marR="109728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i="0" sz="1400">
                          <a:solidFill>
                            <a:srgbClr val="E2E8F0"/>
                          </a:solidFill>
                          <a:latin typeface="Calibri"/>
                        </a:rPr>
                        <a:t>bounded planning loop, rail-capped iterations</a:t>
                      </a:r>
                    </a:p>
                  </a:txBody>
                  <a:tcPr marL="109728" marR="109728" marT="45720" marB="45720" anchor="ctr">
                    <a:solidFill>
                      <a:srgbClr val="1E29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b="0" i="0" sz="1400">
                          <a:solidFill>
                            <a:srgbClr val="E2E8F0"/>
                          </a:solidFill>
                          <a:latin typeface="Calibri"/>
                        </a:rPr>
                        <a:t>"SHALL use connector &lt;slug&gt;" / MCP tools</a:t>
                      </a:r>
                    </a:p>
                  </a:txBody>
                  <a:tcPr marL="109728" marR="109728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i="0" sz="1400">
                          <a:solidFill>
                            <a:srgbClr val="E2E8F0"/>
                          </a:solidFill>
                          <a:latin typeface="Calibri"/>
                        </a:rPr>
                        <a:t>registered connectors, copy custody, MCP tool loop</a:t>
                      </a:r>
                    </a:p>
                  </a:txBody>
                  <a:tcPr marL="109728" marR="109728" marT="45720" marB="45720" anchor="ctr">
                    <a:solidFill>
                      <a:srgbClr val="1E29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b="0" i="0" sz="1400">
                          <a:solidFill>
                            <a:srgbClr val="E2E8F0"/>
                          </a:solidFill>
                          <a:latin typeface="Calibri"/>
                        </a:rPr>
                        <a:t>"SHALL call agent &lt;slug&gt;" / orchestrate</a:t>
                      </a:r>
                    </a:p>
                  </a:txBody>
                  <a:tcPr marL="109728" marR="109728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i="0" sz="1400">
                          <a:solidFill>
                            <a:srgbClr val="E2E8F0"/>
                          </a:solidFill>
                          <a:latin typeface="Calibri"/>
                        </a:rPr>
                        <a:t>composable agents with a resolved dependency graph</a:t>
                      </a:r>
                    </a:p>
                  </a:txBody>
                  <a:tcPr marL="109728" marR="109728" marT="45720" marB="45720" anchor="ctr">
                    <a:solidFill>
                      <a:srgbClr val="1E29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b="0" i="0" sz="1400">
                          <a:solidFill>
                            <a:srgbClr val="E2E8F0"/>
                          </a:solidFill>
                          <a:latin typeface="Calibri"/>
                        </a:rPr>
                        <a:t>"SHALL use packaged dependencies"</a:t>
                      </a:r>
                    </a:p>
                  </a:txBody>
                  <a:tcPr marL="109728" marR="109728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i="0" sz="1400">
                          <a:solidFill>
                            <a:srgbClr val="E2E8F0"/>
                          </a:solidFill>
                          <a:latin typeface="Calibri"/>
                        </a:rPr>
                        <a:t>exact-pinned package with SBOM</a:t>
                      </a:r>
                    </a:p>
                  </a:txBody>
                  <a:tcPr marL="109728" marR="109728" marT="45720" marB="45720"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340096"/>
            <a:ext cx="11094720" cy="5674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b="0" i="0" sz="2000">
                <a:solidFill>
                  <a:srgbClr val="E2E8F0"/>
                </a:solidFill>
                <a:latin typeface="Calibri"/>
              </a:rPr>
              <a:t>Templates decide which rungs a project may declare. Nothing is chosen silently.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b="0" i="0" sz="1100">
                <a:solidFill>
                  <a:srgbClr val="94A3B8"/>
                </a:solidFill>
                <a:latin typeface="Calibri"/>
              </a:rPr>
              <a:t>marshal.build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960" y="635508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b="0" i="0" sz="1100">
                <a:solidFill>
                  <a:srgbClr val="94A3B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20040"/>
            <a:ext cx="11094720" cy="7315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r>
              <a:rPr b="1" i="0" sz="3600">
                <a:solidFill>
                  <a:srgbClr val="818CF8"/>
                </a:solidFill>
                <a:latin typeface="Calibri"/>
              </a:rPr>
              <a:t>10</a:t>
            </a:r>
            <a:r>
              <a:rPr b="1" i="0" sz="3600">
                <a:solidFill>
                  <a:srgbClr val="F8FAFC"/>
                </a:solidFill>
                <a:latin typeface="Calibri"/>
              </a:rPr>
              <a:t> ·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88720" cy="4572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35227" y="1463040"/>
            <a:ext cx="2103120" cy="502920"/>
          </a:xfrm>
          <a:prstGeom prst="roundRect">
            <a:avLst>
              <a:gd name="adj" fmla="val 18000"/>
            </a:avLst>
          </a:prstGeom>
          <a:solidFill>
            <a:srgbClr val="1E293B"/>
          </a:solidFill>
          <a:ln w="1587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0" i="0" sz="1400">
                <a:solidFill>
                  <a:srgbClr val="E2E8F0"/>
                </a:solidFill>
                <a:latin typeface="Calibri"/>
              </a:rPr>
              <a:t>Browser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38347" y="1714500"/>
            <a:ext cx="502920" cy="0"/>
          </a:xfrm>
          <a:prstGeom prst="line">
            <a:avLst/>
          </a:prstGeom>
          <a:ln w="19050">
            <a:solidFill>
              <a:srgbClr val="818CF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741267" y="1463040"/>
            <a:ext cx="2103120" cy="502920"/>
          </a:xfrm>
          <a:prstGeom prst="roundRect">
            <a:avLst>
              <a:gd name="adj" fmla="val 18000"/>
            </a:avLst>
          </a:prstGeom>
          <a:solidFill>
            <a:srgbClr val="1E293B"/>
          </a:solidFill>
          <a:ln w="1587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0" i="0" sz="1400">
                <a:solidFill>
                  <a:srgbClr val="E2E8F0"/>
                </a:solidFill>
                <a:latin typeface="Calibri"/>
              </a:rPr>
              <a:t>CloudFront + WAF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4387" y="1714500"/>
            <a:ext cx="502920" cy="0"/>
          </a:xfrm>
          <a:prstGeom prst="line">
            <a:avLst/>
          </a:prstGeom>
          <a:ln w="19050">
            <a:solidFill>
              <a:srgbClr val="818CF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347307" y="1463040"/>
            <a:ext cx="2103120" cy="502920"/>
          </a:xfrm>
          <a:prstGeom prst="roundRect">
            <a:avLst>
              <a:gd name="adj" fmla="val 18000"/>
            </a:avLst>
          </a:prstGeom>
          <a:solidFill>
            <a:srgbClr val="1E293B"/>
          </a:solidFill>
          <a:ln w="1587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0" i="0" sz="1400">
                <a:solidFill>
                  <a:srgbClr val="E2E8F0"/>
                </a:solidFill>
                <a:latin typeface="Calibri"/>
              </a:rPr>
              <a:t>Next.js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450427" y="1714500"/>
            <a:ext cx="502920" cy="0"/>
          </a:xfrm>
          <a:prstGeom prst="line">
            <a:avLst/>
          </a:prstGeom>
          <a:ln w="19050">
            <a:solidFill>
              <a:srgbClr val="818CF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953347" y="1463040"/>
            <a:ext cx="2103120" cy="502920"/>
          </a:xfrm>
          <a:prstGeom prst="roundRect">
            <a:avLst>
              <a:gd name="adj" fmla="val 18000"/>
            </a:avLst>
          </a:prstGeom>
          <a:solidFill>
            <a:srgbClr val="312E81"/>
          </a:solidFill>
          <a:ln w="1587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i="0" sz="1400">
                <a:solidFill>
                  <a:srgbClr val="E2E8F0"/>
                </a:solidFill>
                <a:latin typeface="Calibri"/>
              </a:rPr>
              <a:t>FastAPI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004907" y="1965960"/>
            <a:ext cx="0" cy="411480"/>
          </a:xfrm>
          <a:prstGeom prst="line">
            <a:avLst/>
          </a:prstGeom>
          <a:ln w="19050">
            <a:solidFill>
              <a:srgbClr val="818C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13154" y="2377440"/>
            <a:ext cx="9565386" cy="0"/>
          </a:xfrm>
          <a:prstGeom prst="line">
            <a:avLst/>
          </a:prstGeom>
          <a:ln w="19050">
            <a:solidFill>
              <a:srgbClr val="818C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313154" y="2377440"/>
            <a:ext cx="0" cy="411480"/>
          </a:xfrm>
          <a:prstGeom prst="line">
            <a:avLst/>
          </a:prstGeom>
          <a:ln w="19050">
            <a:solidFill>
              <a:srgbClr val="818CF8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57200" y="2788920"/>
            <a:ext cx="1711909" cy="777240"/>
          </a:xfrm>
          <a:prstGeom prst="roundRect">
            <a:avLst>
              <a:gd name="adj" fmla="val 18000"/>
            </a:avLst>
          </a:prstGeom>
          <a:solidFill>
            <a:srgbClr val="1E293B"/>
          </a:solidFill>
          <a:ln w="1587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0" i="0" sz="1200">
                <a:solidFill>
                  <a:srgbClr val="E2E8F0"/>
                </a:solidFill>
                <a:latin typeface="Calibri"/>
              </a:rPr>
              <a:t>Postgres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26231" y="2377440"/>
            <a:ext cx="0" cy="411480"/>
          </a:xfrm>
          <a:prstGeom prst="line">
            <a:avLst/>
          </a:prstGeom>
          <a:ln w="19050">
            <a:solidFill>
              <a:srgbClr val="818CF8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70277" y="2788920"/>
            <a:ext cx="1711909" cy="777240"/>
          </a:xfrm>
          <a:prstGeom prst="roundRect">
            <a:avLst>
              <a:gd name="adj" fmla="val 18000"/>
            </a:avLst>
          </a:prstGeom>
          <a:solidFill>
            <a:srgbClr val="1E293B"/>
          </a:solidFill>
          <a:ln w="1587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0" i="0" sz="1200">
                <a:solidFill>
                  <a:srgbClr val="E2E8F0"/>
                </a:solidFill>
                <a:latin typeface="Calibri"/>
              </a:rPr>
              <a:t>DynamoDB (chat, shared state)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139309" y="2377440"/>
            <a:ext cx="0" cy="411480"/>
          </a:xfrm>
          <a:prstGeom prst="line">
            <a:avLst/>
          </a:prstGeom>
          <a:ln w="19050">
            <a:solidFill>
              <a:srgbClr val="818CF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3354" y="2788920"/>
            <a:ext cx="1711909" cy="777240"/>
          </a:xfrm>
          <a:prstGeom prst="roundRect">
            <a:avLst>
              <a:gd name="adj" fmla="val 18000"/>
            </a:avLst>
          </a:prstGeom>
          <a:solidFill>
            <a:srgbClr val="1E293B"/>
          </a:solidFill>
          <a:ln w="1587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0" i="0" sz="1200">
                <a:solidFill>
                  <a:srgbClr val="E2E8F0"/>
                </a:solidFill>
                <a:latin typeface="Calibri"/>
              </a:rPr>
              <a:t>Bedrock seam (clamps · redaction · recording)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39309" y="3566160"/>
            <a:ext cx="0" cy="411480"/>
          </a:xfrm>
          <a:prstGeom prst="line">
            <a:avLst/>
          </a:prstGeom>
          <a:ln w="19050">
            <a:solidFill>
              <a:srgbClr val="818CF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283354" y="3977640"/>
            <a:ext cx="1711909" cy="685800"/>
          </a:xfrm>
          <a:prstGeom prst="roundRect">
            <a:avLst>
              <a:gd name="adj" fmla="val 18000"/>
            </a:avLst>
          </a:prstGeom>
          <a:solidFill>
            <a:srgbClr val="1E293B"/>
          </a:solidFill>
          <a:ln w="1587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0" i="0" sz="1200">
                <a:solidFill>
                  <a:srgbClr val="E2E8F0"/>
                </a:solidFill>
                <a:latin typeface="Calibri"/>
              </a:rPr>
              <a:t>Amazon Bedrock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52386" y="2377440"/>
            <a:ext cx="0" cy="411480"/>
          </a:xfrm>
          <a:prstGeom prst="line">
            <a:avLst/>
          </a:prstGeom>
          <a:ln w="19050">
            <a:solidFill>
              <a:srgbClr val="818CF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196431" y="2788920"/>
            <a:ext cx="1711909" cy="777240"/>
          </a:xfrm>
          <a:prstGeom prst="roundRect">
            <a:avLst>
              <a:gd name="adj" fmla="val 18000"/>
            </a:avLst>
          </a:prstGeom>
          <a:solidFill>
            <a:srgbClr val="1E293B"/>
          </a:solidFill>
          <a:ln w="1587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0" i="0" sz="1200">
                <a:solidFill>
                  <a:srgbClr val="E2E8F0"/>
                </a:solidFill>
                <a:latin typeface="Calibri"/>
              </a:rPr>
              <a:t>Codegen (in-process, or the CodeBuild workspace runner)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52386" y="3566160"/>
            <a:ext cx="0" cy="411480"/>
          </a:xfrm>
          <a:prstGeom prst="line">
            <a:avLst/>
          </a:prstGeom>
          <a:ln w="19050">
            <a:solidFill>
              <a:srgbClr val="818CF8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96431" y="3977640"/>
            <a:ext cx="1711909" cy="685800"/>
          </a:xfrm>
          <a:prstGeom prst="roundRect">
            <a:avLst>
              <a:gd name="adj" fmla="val 18000"/>
            </a:avLst>
          </a:prstGeom>
          <a:solidFill>
            <a:srgbClr val="1E293B"/>
          </a:solidFill>
          <a:ln w="1587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0" i="0" sz="1200">
                <a:solidFill>
                  <a:srgbClr val="E2E8F0"/>
                </a:solidFill>
                <a:latin typeface="Calibri"/>
              </a:rPr>
              <a:t>S3 workspace/artifacts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965463" y="2377440"/>
            <a:ext cx="0" cy="411480"/>
          </a:xfrm>
          <a:prstGeom prst="line">
            <a:avLst/>
          </a:prstGeom>
          <a:ln w="19050">
            <a:solidFill>
              <a:srgbClr val="818CF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09508" y="2788920"/>
            <a:ext cx="1711909" cy="777240"/>
          </a:xfrm>
          <a:prstGeom prst="roundRect">
            <a:avLst>
              <a:gd name="adj" fmla="val 18000"/>
            </a:avLst>
          </a:prstGeom>
          <a:solidFill>
            <a:srgbClr val="1E293B"/>
          </a:solidFill>
          <a:ln w="1587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0" i="0" sz="1200">
                <a:solidFill>
                  <a:srgbClr val="E2E8F0"/>
                </a:solidFill>
                <a:latin typeface="Calibri"/>
              </a:rPr>
              <a:t>Risk gate + review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878540" y="2377440"/>
            <a:ext cx="0" cy="411480"/>
          </a:xfrm>
          <a:prstGeom prst="line">
            <a:avLst/>
          </a:prstGeom>
          <a:ln w="19050">
            <a:solidFill>
              <a:srgbClr val="818CF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0022586" y="2788920"/>
            <a:ext cx="1711909" cy="777240"/>
          </a:xfrm>
          <a:prstGeom prst="roundRect">
            <a:avLst>
              <a:gd name="adj" fmla="val 18000"/>
            </a:avLst>
          </a:prstGeom>
          <a:solidFill>
            <a:srgbClr val="1E293B"/>
          </a:solidFill>
          <a:ln w="1587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0" i="0" sz="1200">
                <a:solidFill>
                  <a:srgbClr val="E2E8F0"/>
                </a:solidFill>
                <a:latin typeface="Calibri"/>
              </a:rPr>
              <a:t>Innovation Sandbox (Enclave vending)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878540" y="3566160"/>
            <a:ext cx="0" cy="411480"/>
          </a:xfrm>
          <a:prstGeom prst="line">
            <a:avLst/>
          </a:prstGeom>
          <a:ln w="19050">
            <a:solidFill>
              <a:srgbClr val="818CF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022586" y="3977640"/>
            <a:ext cx="1711909" cy="685800"/>
          </a:xfrm>
          <a:prstGeom prst="roundRect">
            <a:avLst>
              <a:gd name="adj" fmla="val 18000"/>
            </a:avLst>
          </a:prstGeom>
          <a:solidFill>
            <a:srgbClr val="312E81"/>
          </a:solidFill>
          <a:ln w="1587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i="0" sz="1200">
                <a:solidFill>
                  <a:srgbClr val="E2E8F0"/>
                </a:solidFill>
                <a:latin typeface="Calibri"/>
              </a:rPr>
              <a:t>Enclave account running the CloudFormation stack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892040"/>
            <a:ext cx="11094720" cy="14882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292608" indent="-292608">
              <a:lnSpc>
                <a:spcPct val="105000"/>
              </a:lnSpc>
              <a:spcAft>
                <a:spcPts val="800"/>
              </a:spcAft>
              <a:buClr>
                <a:srgbClr val="818CF8"/>
              </a:buClr>
              <a:buFont typeface="Arial"/>
              <a:buChar char="•"/>
            </a:pPr>
            <a:r>
              <a:rPr b="0" i="0" sz="1800">
                <a:solidFill>
                  <a:srgbClr val="E2E8F0"/>
                </a:solidFill>
                <a:latin typeface="Calibri"/>
              </a:rPr>
              <a:t>Two backend tasks, shared state in DynamoDB, Postgres LISTEN/NOTIFY event relay, elected schedulers.</a:t>
            </a:r>
          </a:p>
          <a:p>
            <a:pPr marL="292608" indent="-292608">
              <a:lnSpc>
                <a:spcPct val="105000"/>
              </a:lnSpc>
              <a:spcAft>
                <a:spcPts val="800"/>
              </a:spcAft>
              <a:buClr>
                <a:srgbClr val="818CF8"/>
              </a:buClr>
              <a:buFont typeface="Arial"/>
              <a:buChar char="•"/>
            </a:pPr>
            <a:r>
              <a:rPr b="0" i="0" sz="1800">
                <a:solidFill>
                  <a:srgbClr val="E2E8F0"/>
                </a:solidFill>
                <a:latin typeface="Calibri"/>
              </a:rPr>
              <a:t>Every enforcement point is a </a:t>
            </a:r>
            <a:r>
              <a:rPr b="1" i="0" sz="1800">
                <a:solidFill>
                  <a:srgbClr val="E2E8F0"/>
                </a:solidFill>
                <a:latin typeface="Calibri"/>
              </a:rPr>
              <a:t>seam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: </a:t>
            </a:r>
            <a:r>
              <a:rPr b="0" i="0" sz="1500">
                <a:solidFill>
                  <a:srgbClr val="C7D2FE"/>
                </a:solidFill>
                <a:latin typeface="Consolas"/>
              </a:rPr>
              <a:t>resolve_models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, the Bedrock seam, the audit route registry, the deployment pre-flight, </a:t>
            </a:r>
            <a:r>
              <a:rPr b="0" i="0" sz="1500">
                <a:solidFill>
                  <a:srgbClr val="C7D2FE"/>
                </a:solidFill>
                <a:latin typeface="Consolas"/>
              </a:rPr>
              <a:t>SandboxProvider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, </a:t>
            </a:r>
            <a:r>
              <a:rPr b="0" i="0" sz="1500">
                <a:solidFill>
                  <a:srgbClr val="C7D2FE"/>
                </a:solidFill>
                <a:latin typeface="Consolas"/>
              </a:rPr>
              <a:t>CodegenProvider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b="0" i="0" sz="1100">
                <a:solidFill>
                  <a:srgbClr val="94A3B8"/>
                </a:solidFill>
                <a:latin typeface="Calibri"/>
              </a:rPr>
              <a:t>marshal.build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28960" y="635508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b="0" i="0" sz="1100">
                <a:solidFill>
                  <a:srgbClr val="94A3B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20040"/>
            <a:ext cx="11094720" cy="7315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r>
              <a:rPr b="1" i="0" sz="3600">
                <a:solidFill>
                  <a:srgbClr val="818CF8"/>
                </a:solidFill>
                <a:latin typeface="Calibri"/>
              </a:rPr>
              <a:t>11</a:t>
            </a:r>
            <a:r>
              <a:rPr b="1" i="0" sz="3600">
                <a:solidFill>
                  <a:srgbClr val="F8FAFC"/>
                </a:solidFill>
                <a:latin typeface="Calibri"/>
              </a:rPr>
              <a:t> · Built in the open — engineering discipline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88720" cy="4572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720" cy="2866745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292608" indent="-292608">
              <a:lnSpc>
                <a:spcPct val="105000"/>
              </a:lnSpc>
              <a:spcAft>
                <a:spcPts val="800"/>
              </a:spcAft>
              <a:buClr>
                <a:srgbClr val="818CF8"/>
              </a:buClr>
              <a:buFont typeface="Arial"/>
              <a:buChar char="•"/>
            </a:pPr>
            <a:r>
              <a:rPr b="1" i="0" sz="1800">
                <a:solidFill>
                  <a:srgbClr val="E2E8F0"/>
                </a:solidFill>
                <a:latin typeface="Calibri"/>
              </a:rPr>
              <a:t>616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 backend tests · </a:t>
            </a:r>
            <a:r>
              <a:rPr b="1" i="0" sz="1800">
                <a:solidFill>
                  <a:srgbClr val="E2E8F0"/>
                </a:solidFill>
                <a:latin typeface="Calibri"/>
              </a:rPr>
              <a:t>95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-check headless-browser smoke against production on every deploy · TypeScript strict · </a:t>
            </a:r>
            <a:r>
              <a:rPr b="0" i="0" sz="1500">
                <a:solidFill>
                  <a:srgbClr val="C7D2FE"/>
                </a:solidFill>
                <a:latin typeface="Consolas"/>
              </a:rPr>
              <a:t>cdk synth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 in CI.</a:t>
            </a:r>
          </a:p>
          <a:p>
            <a:pPr marL="292608" indent="-292608">
              <a:lnSpc>
                <a:spcPct val="105000"/>
              </a:lnSpc>
              <a:spcAft>
                <a:spcPts val="800"/>
              </a:spcAft>
              <a:buClr>
                <a:srgbClr val="818CF8"/>
              </a:buClr>
              <a:buFont typeface="Arial"/>
              <a:buChar char="•"/>
            </a:pPr>
            <a:r>
              <a:rPr b="1" i="0" sz="1800">
                <a:solidFill>
                  <a:srgbClr val="E2E8F0"/>
                </a:solidFill>
                <a:latin typeface="Calibri"/>
              </a:rPr>
              <a:t>Supply-chain gate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 on every image build (pip-audit + npm audit, SBOM evidence) — it refused a deploy this week over 14 fixable advisories; we upgraded instead of allowlisting.</a:t>
            </a:r>
          </a:p>
          <a:p>
            <a:pPr marL="292608" indent="-292608">
              <a:lnSpc>
                <a:spcPct val="105000"/>
              </a:lnSpc>
              <a:spcAft>
                <a:spcPts val="800"/>
              </a:spcAft>
              <a:buClr>
                <a:srgbClr val="818CF8"/>
              </a:buClr>
              <a:buFont typeface="Arial"/>
              <a:buChar char="•"/>
            </a:pPr>
            <a:r>
              <a:rPr b="1" i="0" sz="1800">
                <a:solidFill>
                  <a:srgbClr val="E2E8F0"/>
                </a:solidFill>
                <a:latin typeface="Calibri"/>
              </a:rPr>
              <a:t>29 recorded delivery waves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: every defect, root cause, drill and decision written down with the evidence — the recent entries ship publicly as </a:t>
            </a:r>
            <a:r>
              <a:rPr b="0" i="0" sz="1500">
                <a:solidFill>
                  <a:srgbClr val="C7D2FE"/>
                </a:solidFill>
                <a:latin typeface="Consolas"/>
              </a:rPr>
              <a:t>docs/ENGINEERING_LOG.md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.</a:t>
            </a:r>
          </a:p>
          <a:p>
            <a:pPr marL="292608" indent="-292608">
              <a:lnSpc>
                <a:spcPct val="105000"/>
              </a:lnSpc>
              <a:spcAft>
                <a:spcPts val="800"/>
              </a:spcAft>
              <a:buClr>
                <a:srgbClr val="818CF8"/>
              </a:buClr>
              <a:buFont typeface="Arial"/>
              <a:buChar char="•"/>
            </a:pPr>
            <a:r>
              <a:rPr b="0" i="0" sz="1800">
                <a:solidFill>
                  <a:srgbClr val="E2E8F0"/>
                </a:solidFill>
                <a:latin typeface="Calibri"/>
              </a:rPr>
              <a:t>Live since </a:t>
            </a:r>
            <a:r>
              <a:rPr b="1" i="0" sz="1800">
                <a:solidFill>
                  <a:srgbClr val="E2E8F0"/>
                </a:solidFill>
                <a:latin typeface="Calibri"/>
              </a:rPr>
              <a:t>25 July 2026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; Multi-AZ Postgres with PITR; zero-downtime Alembic migrations; every wave live-verified before it's called done.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b="0" i="0" sz="1100">
                <a:solidFill>
                  <a:srgbClr val="94A3B8"/>
                </a:solidFill>
                <a:latin typeface="Calibri"/>
              </a:rPr>
              <a:t>marshal.build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960" y="635508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b="0" i="0" sz="1100">
                <a:solidFill>
                  <a:srgbClr val="94A3B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20040"/>
            <a:ext cx="11094720" cy="7315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r>
              <a:rPr b="1" i="0" sz="3600">
                <a:solidFill>
                  <a:srgbClr val="818CF8"/>
                </a:solidFill>
                <a:latin typeface="Calibri"/>
              </a:rPr>
              <a:t>12</a:t>
            </a:r>
            <a:r>
              <a:rPr b="1" i="0" sz="3600">
                <a:solidFill>
                  <a:srgbClr val="F8FAFC"/>
                </a:solidFill>
                <a:latin typeface="Calibri"/>
              </a:rPr>
              <a:t> · What's open today and how to run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88720" cy="4572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720" cy="416448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292608" indent="-292608">
              <a:lnSpc>
                <a:spcPct val="105000"/>
              </a:lnSpc>
              <a:spcAft>
                <a:spcPts val="800"/>
              </a:spcAft>
              <a:buClr>
                <a:srgbClr val="818CF8"/>
              </a:buClr>
              <a:buFont typeface="Arial"/>
              <a:buChar char="•"/>
            </a:pPr>
            <a:r>
              <a:rPr b="1" i="0" sz="1800">
                <a:solidFill>
                  <a:srgbClr val="E2E8F0"/>
                </a:solidFill>
                <a:latin typeface="Calibri"/>
              </a:rPr>
              <a:t>One edition, everything included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 under Apache-2.0. A hosted/commercial edition is planned; nothing here is crippled.</a:t>
            </a:r>
          </a:p>
          <a:p>
            <a:pPr marL="292608" indent="-292608">
              <a:lnSpc>
                <a:spcPct val="105000"/>
              </a:lnSpc>
              <a:spcAft>
                <a:spcPts val="800"/>
              </a:spcAft>
              <a:buClr>
                <a:srgbClr val="818CF8"/>
              </a:buClr>
              <a:buFont typeface="Arial"/>
              <a:buChar char="•"/>
            </a:pPr>
            <a:r>
              <a:rPr b="1" i="0" sz="1800">
                <a:solidFill>
                  <a:srgbClr val="E2E8F0"/>
                </a:solidFill>
                <a:latin typeface="Calibri"/>
              </a:rPr>
              <a:t>You need: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 an AWS account, Bedrock model access for the default models, Node.js 22 + Python 3.12 + uv + AWS CLI v2 + CDK. Two tiers:</a:t>
            </a:r>
          </a:p>
          <a:p>
            <a:pPr marL="585216" indent="-292608">
              <a:lnSpc>
                <a:spcPct val="105000"/>
              </a:lnSpc>
              <a:spcAft>
                <a:spcPts val="500"/>
              </a:spcAft>
              <a:buClr>
                <a:srgbClr val="818CF8"/>
              </a:buClr>
              <a:buFont typeface="Arial"/>
              <a:buChar char="–"/>
            </a:pPr>
            <a:r>
              <a:rPr b="1" i="0" sz="1600">
                <a:solidFill>
                  <a:srgbClr val="E2E8F0"/>
                </a:solidFill>
                <a:latin typeface="Calibri"/>
              </a:rPr>
              <a:t>Evaluate</a:t>
            </a:r>
            <a:r>
              <a:rPr b="0" i="0" sz="1600">
                <a:solidFill>
                  <a:srgbClr val="E2E8F0"/>
                </a:solidFill>
                <a:latin typeface="Calibri"/>
              </a:rPr>
              <a:t> — </a:t>
            </a:r>
            <a:r>
              <a:rPr b="0" i="0" sz="1300">
                <a:solidFill>
                  <a:srgbClr val="C7D2FE"/>
                </a:solidFill>
                <a:latin typeface="Consolas"/>
              </a:rPr>
              <a:t>direct</a:t>
            </a:r>
            <a:r>
              <a:rPr b="0" i="0" sz="1600">
                <a:solidFill>
                  <a:srgbClr val="E2E8F0"/>
                </a:solidFill>
                <a:latin typeface="Calibri"/>
              </a:rPr>
              <a:t> mode: deploys agents into the installation account. One account, no Innovation Sandbox.</a:t>
            </a:r>
          </a:p>
          <a:p>
            <a:pPr marL="585216" indent="-292608">
              <a:lnSpc>
                <a:spcPct val="105000"/>
              </a:lnSpc>
              <a:spcAft>
                <a:spcPts val="500"/>
              </a:spcAft>
              <a:buClr>
                <a:srgbClr val="818CF8"/>
              </a:buClr>
              <a:buFont typeface="Arial"/>
              <a:buChar char="–"/>
            </a:pPr>
            <a:r>
              <a:rPr b="1" i="0" sz="1600">
                <a:solidFill>
                  <a:srgbClr val="E2E8F0"/>
                </a:solidFill>
                <a:latin typeface="Calibri"/>
              </a:rPr>
              <a:t>Operate</a:t>
            </a:r>
            <a:r>
              <a:rPr b="0" i="0" sz="1600">
                <a:solidFill>
                  <a:srgbClr val="E2E8F0"/>
                </a:solidFill>
                <a:latin typeface="Calibri"/>
              </a:rPr>
              <a:t> — Enclave mode: install AWS Innovation Sandbox (guide included), get an account per deployment.</a:t>
            </a:r>
          </a:p>
          <a:p>
            <a:pPr marL="292608" indent="-292608">
              <a:lnSpc>
                <a:spcPct val="105000"/>
              </a:lnSpc>
              <a:spcAft>
                <a:spcPts val="800"/>
              </a:spcAft>
              <a:buClr>
                <a:srgbClr val="818CF8"/>
              </a:buClr>
              <a:buFont typeface="Arial"/>
              <a:buChar char="•"/>
            </a:pPr>
            <a:r>
              <a:rPr b="0" i="0" sz="1500">
                <a:solidFill>
                  <a:srgbClr val="C7D2FE"/>
                </a:solidFill>
                <a:latin typeface="Consolas"/>
              </a:rPr>
              <a:t>./scripts/deploy-cloud.sh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 — seven steps, fail-closed smoke at the end. Honest monthly floor in the README: </a:t>
            </a:r>
            <a:r>
              <a:rPr b="1" i="0" sz="1800">
                <a:solidFill>
                  <a:srgbClr val="E2E8F0"/>
                </a:solidFill>
                <a:latin typeface="Calibri"/>
              </a:rPr>
              <a:t>≈ $120–125/month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 (evaluate) · </a:t>
            </a:r>
            <a:r>
              <a:rPr b="1" i="0" sz="1800">
                <a:solidFill>
                  <a:srgbClr val="E2E8F0"/>
                </a:solidFill>
                <a:latin typeface="Calibri"/>
              </a:rPr>
              <a:t>≈ $190–195/month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 (production).</a:t>
            </a:r>
          </a:p>
          <a:p>
            <a:pPr marL="292608" indent="-292608">
              <a:lnSpc>
                <a:spcPct val="105000"/>
              </a:lnSpc>
              <a:spcAft>
                <a:spcPts val="800"/>
              </a:spcAft>
              <a:buClr>
                <a:srgbClr val="818CF8"/>
              </a:buClr>
              <a:buFont typeface="Arial"/>
              <a:buChar char="•"/>
            </a:pPr>
            <a:r>
              <a:rPr b="0" i="0" sz="1800">
                <a:solidFill>
                  <a:srgbClr val="E2E8F0"/>
                </a:solidFill>
                <a:latin typeface="Calibri"/>
              </a:rPr>
              <a:t>Docs: in-app user guide (7 pages), </a:t>
            </a:r>
            <a:r>
              <a:rPr b="0" i="0" sz="1500">
                <a:solidFill>
                  <a:srgbClr val="C7D2FE"/>
                </a:solidFill>
                <a:latin typeface="Consolas"/>
              </a:rPr>
              <a:t>ARCHITECTURE.md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, </a:t>
            </a:r>
            <a:r>
              <a:rPr b="0" i="0" sz="1500">
                <a:solidFill>
                  <a:srgbClr val="C7D2FE"/>
                </a:solidFill>
                <a:latin typeface="Consolas"/>
              </a:rPr>
              <a:t>ROADMAP.md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, </a:t>
            </a:r>
            <a:r>
              <a:rPr b="0" i="0" sz="1500">
                <a:solidFill>
                  <a:srgbClr val="C7D2FE"/>
                </a:solidFill>
                <a:latin typeface="Consolas"/>
              </a:rPr>
              <a:t>CHANGELOG.md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, </a:t>
            </a:r>
            <a:r>
              <a:rPr b="0" i="0" sz="1500">
                <a:solidFill>
                  <a:srgbClr val="C7D2FE"/>
                </a:solidFill>
                <a:latin typeface="Consolas"/>
              </a:rPr>
              <a:t>docs/ENGINEERING_LOG.md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b="0" i="0" sz="1100">
                <a:solidFill>
                  <a:srgbClr val="94A3B8"/>
                </a:solidFill>
                <a:latin typeface="Calibri"/>
              </a:rPr>
              <a:t>marshal.build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960" y="635508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b="0" i="0" sz="1100">
                <a:solidFill>
                  <a:srgbClr val="94A3B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20040"/>
            <a:ext cx="11094720" cy="7315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r>
              <a:rPr b="1" i="0" sz="3600">
                <a:solidFill>
                  <a:srgbClr val="818CF8"/>
                </a:solidFill>
                <a:latin typeface="Calibri"/>
              </a:rPr>
              <a:t>13</a:t>
            </a:r>
            <a:r>
              <a:rPr b="1" i="0" sz="3600">
                <a:solidFill>
                  <a:srgbClr val="F8FAFC"/>
                </a:solidFill>
                <a:latin typeface="Calibri"/>
              </a:rPr>
              <a:t> · Honest limits and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88720" cy="4572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720" cy="2974441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292608" indent="-292608">
              <a:lnSpc>
                <a:spcPct val="105000"/>
              </a:lnSpc>
              <a:spcAft>
                <a:spcPts val="800"/>
              </a:spcAft>
              <a:buClr>
                <a:srgbClr val="818CF8"/>
              </a:buClr>
              <a:buFont typeface="Arial"/>
              <a:buChar char="•"/>
            </a:pPr>
            <a:r>
              <a:rPr b="1" i="0" sz="1800">
                <a:solidFill>
                  <a:srgbClr val="E2E8F0"/>
                </a:solidFill>
                <a:latin typeface="Calibri"/>
              </a:rPr>
              <a:t>Not a KIRO API integration.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 The external codegen engine is our own S3/CodeBuild workspace runner behind a published workspace contract; a real engine can replace the image.</a:t>
            </a:r>
          </a:p>
          <a:p>
            <a:pPr marL="292608" indent="-292608">
              <a:lnSpc>
                <a:spcPct val="105000"/>
              </a:lnSpc>
              <a:spcAft>
                <a:spcPts val="800"/>
              </a:spcAft>
              <a:buClr>
                <a:srgbClr val="818CF8"/>
              </a:buClr>
              <a:buFont typeface="Arial"/>
              <a:buChar char="•"/>
            </a:pPr>
            <a:r>
              <a:rPr b="1" i="0" sz="1800">
                <a:solidFill>
                  <a:srgbClr val="E2E8F0"/>
                </a:solidFill>
                <a:latin typeface="Calibri"/>
              </a:rPr>
              <a:t>Single organisation per installation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 today (multi-org tenancy groundwork exists; activation is roadmap).</a:t>
            </a:r>
          </a:p>
          <a:p>
            <a:pPr marL="292608" indent="-292608">
              <a:lnSpc>
                <a:spcPct val="105000"/>
              </a:lnSpc>
              <a:spcAft>
                <a:spcPts val="800"/>
              </a:spcAft>
              <a:buClr>
                <a:srgbClr val="818CF8"/>
              </a:buClr>
              <a:buFont typeface="Arial"/>
              <a:buChar char="•"/>
            </a:pPr>
            <a:r>
              <a:rPr b="0" i="0" sz="1800">
                <a:solidFill>
                  <a:srgbClr val="E2E8F0"/>
                </a:solidFill>
                <a:latin typeface="Calibri"/>
              </a:rPr>
              <a:t>Chat stalls are bounded to ~45 s with automatic retry when the model provider stalls.</a:t>
            </a:r>
          </a:p>
          <a:p>
            <a:pPr marL="292608" indent="-292608">
              <a:lnSpc>
                <a:spcPct val="105000"/>
              </a:lnSpc>
              <a:spcAft>
                <a:spcPts val="800"/>
              </a:spcAft>
              <a:buClr>
                <a:srgbClr val="818CF8"/>
              </a:buClr>
              <a:buFont typeface="Arial"/>
              <a:buChar char="•"/>
            </a:pPr>
            <a:r>
              <a:rPr b="0" i="0" sz="1500">
                <a:solidFill>
                  <a:srgbClr val="C7D2FE"/>
                </a:solidFill>
                <a:latin typeface="Consolas"/>
              </a:rPr>
              <a:t>cdk-app</a:t>
            </a:r>
            <a:r>
              <a:rPr b="0" i="0" sz="1800">
                <a:solidFill>
                  <a:srgbClr val="E2E8F0"/>
                </a:solidFill>
                <a:latin typeface="Calibri"/>
              </a:rPr>
              <a:t> profile needs the runner provider enabled; treat as experimental.</a:t>
            </a:r>
          </a:p>
          <a:p>
            <a:pPr marL="292608" indent="-292608">
              <a:lnSpc>
                <a:spcPct val="105000"/>
              </a:lnSpc>
              <a:spcAft>
                <a:spcPts val="800"/>
              </a:spcAft>
              <a:buClr>
                <a:srgbClr val="818CF8"/>
              </a:buClr>
              <a:buFont typeface="Arial"/>
              <a:buChar char="•"/>
            </a:pPr>
            <a:r>
              <a:rPr b="0" i="0" sz="1800">
                <a:solidFill>
                  <a:srgbClr val="E2E8F0"/>
                </a:solidFill>
                <a:latin typeface="Calibri"/>
              </a:rPr>
              <a:t>Roadmap: multi-org, event/hackathon mode, container artifact profile, commercial edition, KIRO API when one exists.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b="0" i="0" sz="1100">
                <a:solidFill>
                  <a:srgbClr val="94A3B8"/>
                </a:solidFill>
                <a:latin typeface="Calibri"/>
              </a:rPr>
              <a:t>marshal.build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960" y="635508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b="0" i="0" sz="1100">
                <a:solidFill>
                  <a:srgbClr val="94A3B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20040"/>
            <a:ext cx="11094720" cy="7315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r>
              <a:rPr b="1" i="0" sz="3600">
                <a:solidFill>
                  <a:srgbClr val="818CF8"/>
                </a:solidFill>
                <a:latin typeface="Calibri"/>
              </a:rPr>
              <a:t>14</a:t>
            </a:r>
            <a:r>
              <a:rPr b="1" i="0" sz="3600">
                <a:solidFill>
                  <a:srgbClr val="F8FAFC"/>
                </a:solidFill>
                <a:latin typeface="Calibri"/>
              </a:rPr>
              <a:t> · 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88720" cy="4572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720" cy="4937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b="1" i="0" sz="2800">
                <a:solidFill>
                  <a:srgbClr val="E2E8F0"/>
                </a:solidFill>
                <a:latin typeface="Calibri"/>
              </a:rPr>
              <a:t>Expense Receipt Triage Agent</a:t>
            </a:r>
            <a:r>
              <a:rPr b="0" i="0" sz="2800">
                <a:solidFill>
                  <a:srgbClr val="E2E8F0"/>
                </a:solidFill>
                <a:latin typeface="Calibri"/>
              </a:rPr>
              <a:t> — 12 minutes, Build → Govern → Deploy, ending with a real </a:t>
            </a:r>
            <a:r>
              <a:rPr b="0" i="0" sz="2500">
                <a:solidFill>
                  <a:srgbClr val="C7D2FE"/>
                </a:solidFill>
                <a:latin typeface="Consolas"/>
              </a:rPr>
              <a:t>curl</a:t>
            </a:r>
            <a:r>
              <a:rPr b="0" i="0" sz="2800">
                <a:solidFill>
                  <a:srgbClr val="E2E8F0"/>
                </a:solidFill>
                <a:latin typeface="Calibri"/>
              </a:rPr>
              <a:t> against a real Enclave.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b="0" i="0" sz="1100">
                <a:solidFill>
                  <a:srgbClr val="94A3B8"/>
                </a:solidFill>
                <a:latin typeface="Calibri"/>
              </a:rPr>
              <a:t>marshal.build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960" y="635508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b="0" i="0" sz="1100">
                <a:solidFill>
                  <a:srgbClr val="94A3B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20040"/>
            <a:ext cx="11094720" cy="7315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r>
              <a:rPr b="1" i="0" sz="3600">
                <a:solidFill>
                  <a:srgbClr val="818CF8"/>
                </a:solidFill>
                <a:latin typeface="Calibri"/>
              </a:rPr>
              <a:t>15</a:t>
            </a:r>
            <a:r>
              <a:rPr b="1" i="0" sz="3600">
                <a:solidFill>
                  <a:srgbClr val="F8FAFC"/>
                </a:solidFill>
                <a:latin typeface="Calibri"/>
              </a:rPr>
              <a:t> · Get involved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88720" cy="4572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720" cy="1725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292608" indent="-292608">
              <a:lnSpc>
                <a:spcPct val="105000"/>
              </a:lnSpc>
              <a:spcAft>
                <a:spcPts val="800"/>
              </a:spcAft>
              <a:buClr>
                <a:srgbClr val="818CF8"/>
              </a:buClr>
              <a:buFont typeface="Arial"/>
              <a:buChar char="•"/>
            </a:pPr>
            <a:r>
              <a:rPr b="0" i="0" sz="2000">
                <a:solidFill>
                  <a:srgbClr val="E2E8F0"/>
                </a:solidFill>
                <a:latin typeface="Calibri"/>
              </a:rPr>
              <a:t>Repo: </a:t>
            </a:r>
            <a:r>
              <a:rPr b="0" i="0" sz="1700">
                <a:solidFill>
                  <a:srgbClr val="C7D2FE"/>
                </a:solidFill>
                <a:latin typeface="Consolas"/>
              </a:rPr>
              <a:t>github.com/xyme/marshal.build</a:t>
            </a:r>
            <a:r>
              <a:rPr b="0" i="0" sz="2000">
                <a:solidFill>
                  <a:srgbClr val="E2E8F0"/>
                </a:solidFill>
                <a:latin typeface="Calibri"/>
              </a:rPr>
              <a:t> · </a:t>
            </a:r>
            <a:r>
              <a:rPr b="0" i="0" sz="1700">
                <a:solidFill>
                  <a:srgbClr val="C7D2FE"/>
                </a:solidFill>
                <a:latin typeface="Consolas"/>
              </a:rPr>
              <a:t>CONTRIBUTING.md</a:t>
            </a:r>
            <a:r>
              <a:rPr b="0" i="0" sz="2000">
                <a:solidFill>
                  <a:srgbClr val="E2E8F0"/>
                </a:solidFill>
                <a:latin typeface="Calibri"/>
              </a:rPr>
              <a:t> · </a:t>
            </a:r>
            <a:r>
              <a:rPr b="0" i="0" sz="1700">
                <a:solidFill>
                  <a:srgbClr val="C7D2FE"/>
                </a:solidFill>
                <a:latin typeface="Consolas"/>
              </a:rPr>
              <a:t>SECURITY.md</a:t>
            </a:r>
          </a:p>
          <a:p>
            <a:pPr marL="292608" indent="-292608">
              <a:lnSpc>
                <a:spcPct val="105000"/>
              </a:lnSpc>
              <a:spcAft>
                <a:spcPts val="800"/>
              </a:spcAft>
              <a:buClr>
                <a:srgbClr val="818CF8"/>
              </a:buClr>
              <a:buFont typeface="Arial"/>
              <a:buChar char="•"/>
            </a:pPr>
            <a:r>
              <a:rPr b="0" i="0" sz="2000">
                <a:solidFill>
                  <a:srgbClr val="E2E8F0"/>
                </a:solidFill>
                <a:latin typeface="Calibri"/>
              </a:rPr>
              <a:t>Good first contributions: a template, a marketplace sample, a connector adapter (the SharePoint adapter is the reference shape), a doc fix found during your install.</a:t>
            </a:r>
          </a:p>
          <a:p>
            <a:pPr marL="292608" indent="-292608">
              <a:lnSpc>
                <a:spcPct val="105000"/>
              </a:lnSpc>
              <a:spcAft>
                <a:spcPts val="800"/>
              </a:spcAft>
              <a:buClr>
                <a:srgbClr val="818CF8"/>
              </a:buClr>
              <a:buFont typeface="Arial"/>
              <a:buChar char="•"/>
            </a:pPr>
            <a:r>
              <a:rPr b="0" i="0" sz="2000">
                <a:solidFill>
                  <a:srgbClr val="E2E8F0"/>
                </a:solidFill>
                <a:latin typeface="Calibri"/>
              </a:rPr>
              <a:t>Hosted beta: private, by invitation — the code is the product today.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b="0" i="0" sz="1100">
                <a:solidFill>
                  <a:srgbClr val="94A3B8"/>
                </a:solidFill>
                <a:latin typeface="Calibri"/>
              </a:rPr>
              <a:t>marshal.build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960" y="635508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b="0" i="0" sz="1100">
                <a:solidFill>
                  <a:srgbClr val="94A3B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